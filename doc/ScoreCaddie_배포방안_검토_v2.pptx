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예상 월 비용 (USD)</c:v>
                </c:pt>
              </c:strCache>
            </c:strRef>
          </c:tx>
          <c:spPr>
            <a:solidFill>
              <a:srgbClr val="2FA8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8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Supabase Pro (정액)</c:v>
                  </c:pt>
                  <c:pt idx="1">
                    <c:v>Neon Launch (종량)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6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C70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C7080"/>
                    </a:solidFill>
                    <a:latin typeface="Arial"/>
                  </a:rPr>
                  <a:t>USD/월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2743200" cy="1554480"/>
          </a:xfrm>
          <a:prstGeom prst="cloud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1371600" cy="1737360"/>
          </a:xfrm>
          <a:prstGeom prst="can">
            <a:avLst/>
          </a:prstGeom>
          <a:solidFill>
            <a:srgbClr val="F4A825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120640"/>
            <a:ext cx="1097280" cy="109728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 방안 검토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호스팅 · 데이터베이스 플랫폼 비교 및 추천안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3977640"/>
            <a:ext cx="502920" cy="50292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977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316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977640"/>
            <a:ext cx="502920" cy="5029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91840" y="45262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2026-07-27  ·  ScoreCaddie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 배경 및 목적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분석·설계 문서의 기술 스택에는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Supabase/Neon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조합이 "MVP 단계 무료·저비용"이라는 사유로 이미 방향만 확정되어 있음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32888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배포·호스팅 예산과 도메인 여부는 여전히 "미정 사항"으로 남아 있음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19125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→ 배포는 개발 진행 단계 중 아직 착수 전인 마지막 단계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6849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496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생성·비용 지출 전에 각 플랫폼의 무료/유료 조건과 실제 적합성을 먼저 점검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0" y="1417320"/>
            <a:ext cx="4343400" cy="3383280"/>
          </a:xfrm>
          <a:prstGeom prst="roundRect">
            <a:avLst>
              <a:gd name="adj" fmla="val 3243"/>
            </a:avLst>
          </a:prstGeom>
          <a:solidFill>
            <a:srgbClr val="F1F6FA"/>
          </a:solidFill>
          <a:ln/>
          <a:effectLst>
            <a:outerShdw sx="100000" sy="100000" kx="0" ky="0" algn="bl" rotWithShape="0" blurRad="76200" dist="25400" dir="5400000">
              <a:srgbClr val="9BB4CC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352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미정 사항 (memory.md)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2148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“배포/호스팅 예산 및 도메인 여부”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35240" y="2880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검토 범위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35240" y="3346704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2" name="Text 20"/>
          <p:cNvSpPr/>
          <p:nvPr/>
        </p:nvSpPr>
        <p:spPr>
          <a:xfrm>
            <a:off x="7845552" y="323697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호스팅: Vercel vs Render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35240" y="3730752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4" name="Text 22"/>
          <p:cNvSpPr/>
          <p:nvPr/>
        </p:nvSpPr>
        <p:spPr>
          <a:xfrm>
            <a:off x="7845552" y="36210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Supabase vs Neon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4114800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6" name="Text 24"/>
          <p:cNvSpPr/>
          <p:nvPr/>
        </p:nvSpPr>
        <p:spPr>
          <a:xfrm>
            <a:off x="7845552" y="4005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티어 / 유료 조건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4498848"/>
            <a:ext cx="82296" cy="8229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8" name="Text 26"/>
          <p:cNvSpPr/>
          <p:nvPr/>
        </p:nvSpPr>
        <p:spPr>
          <a:xfrm>
            <a:off x="7845552" y="43891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상황에 맞는 추천안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 대상 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920240"/>
            <a:ext cx="731520" cy="73152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20140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20140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특화 배포 플랫폼. zero-config 배포 + 프리뷰 URL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10812" y="1920240"/>
            <a:ext cx="731520" cy="73152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3" name="Text 11"/>
          <p:cNvSpPr/>
          <p:nvPr/>
        </p:nvSpPr>
        <p:spPr>
          <a:xfrm>
            <a:off x="4210812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9272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890772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3890772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02152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Auth + Storage + Realtime 통합 백엔드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81444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981444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89904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661404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61404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데이터베이스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72784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Postgres 전문, 브랜칭 · scale-to-zero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860536" y="1600200"/>
            <a:ext cx="2514600" cy="3246120"/>
          </a:xfrm>
          <a:prstGeom prst="roundRect">
            <a:avLst>
              <a:gd name="adj" fmla="val 3636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52076" y="1920240"/>
            <a:ext cx="731520" cy="7315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27" name="Text 25"/>
          <p:cNvSpPr/>
          <p:nvPr/>
        </p:nvSpPr>
        <p:spPr>
          <a:xfrm>
            <a:off x="9752076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860536" y="278892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432036" y="31729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9432036" y="3172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호스팅+DB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43416" y="361188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웹서비스 · Postgres · Redis 통합 운영 플랫폼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Render = 호스팅(앱 실행)   /   Supabase · Neon = 데이터베이스   —   Render는 두 역할을 한 플랫폼에서 겸함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기반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77640" y="14630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관리형 Postgres 위에 백엔드 기능을 얹은 구조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12" name="Text 10"/>
          <p:cNvSpPr/>
          <p:nvPr/>
        </p:nvSpPr>
        <p:spPr>
          <a:xfrm>
            <a:off x="1097280" y="202996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내장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202996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이메일/소셜 로그인 등 인증을 자체 제공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642616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42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16" name="Text 14"/>
          <p:cNvSpPr/>
          <p:nvPr/>
        </p:nvSpPr>
        <p:spPr>
          <a:xfrm>
            <a:off x="1097280" y="25968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파일 스토리지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77640" y="2596896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등 바이너리 파일 저장/서빙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1097280" y="31638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Realtime 구독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77640" y="3163824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변경사항을 실시간으로 클라이언트에 push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76472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24" name="Text 22"/>
          <p:cNvSpPr/>
          <p:nvPr/>
        </p:nvSpPr>
        <p:spPr>
          <a:xfrm>
            <a:off x="1097280" y="37307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Functions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77640" y="37307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함수를 DB 가까이에서 실행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384048" cy="384048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" dirty="0">
                <a:solidFill>
                  <a:srgbClr val="2FA86A"/>
                </a:solidFill>
              </a:rPr>
              <a:t>●</a:t>
            </a:r>
            <a:endParaRPr lang="en-US" sz="100" dirty="0"/>
          </a:p>
        </p:txBody>
      </p:sp>
      <p:sp>
        <p:nvSpPr>
          <p:cNvPr id="28" name="Text 26"/>
          <p:cNvSpPr/>
          <p:nvPr/>
        </p:nvSpPr>
        <p:spPr>
          <a:xfrm>
            <a:off x="1097280" y="4297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Level Security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977640" y="42976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단위 접근 제어를 Auth와 통합 제공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281160" y="2743200"/>
            <a:ext cx="1371600" cy="1737360"/>
          </a:xfrm>
          <a:prstGeom prst="can">
            <a:avLst/>
          </a:prstGeom>
          <a:solidFill>
            <a:srgbClr val="2FA86A"/>
          </a:solidFill>
          <a:ln/>
        </p:spPr>
      </p:sp>
      <p:sp>
        <p:nvSpPr>
          <p:cNvPr id="31" name="Text 29"/>
          <p:cNvSpPr/>
          <p:nvPr/>
        </p:nvSpPr>
        <p:spPr>
          <a:xfrm>
            <a:off x="8869680" y="3429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16002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0744200" y="160020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4420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0" y="47091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744200" y="47091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1F6FA"/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44200" y="4709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: DB만이 아니라 백엔드 전체가 필요할 때 유리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OPTION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Neon이란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서버리스 Postgres 전문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60520" y="146304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부가 백엔드 기능 없이 DB 자체에 집중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848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 브랜칭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160520" y="20848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git처럼 프로덕션 DB를 몇 초 만에 복제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523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066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Scale-to-Zero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60520" y="270662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유휴 시 컴퓨트가 자동으로 0으로 줄어듦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32841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커넥션 풀러 내장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60520" y="332841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서버리스 환경의 다중 연결 문제 해결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9502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엣지 드라이버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60520" y="39502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런타임에서도 바로 연결 가능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52560" y="1737360"/>
            <a:ext cx="0" cy="100584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52560" y="2743200"/>
            <a:ext cx="1005840" cy="64008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2743200"/>
            <a:ext cx="0" cy="146304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51976" y="1627632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235440" y="153619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(production)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51976" y="4114800"/>
            <a:ext cx="201168" cy="2011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0" y="4023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(test)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66960" y="3273552"/>
            <a:ext cx="201168" cy="201168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29" name="Text 27"/>
          <p:cNvSpPr/>
          <p:nvPr/>
        </p:nvSpPr>
        <p:spPr>
          <a:xfrm>
            <a:off x="1024128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(preview)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요약 : DB 그 자체의 유연성 · 비용 효율에 집중할 때 유리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VS NEON · FREE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무료 티어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2FA86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212080" cy="320040"/>
          </a:xfrm>
          <a:prstGeom prst="rect">
            <a:avLst/>
          </a:prstGeom>
          <a:solidFill>
            <a:srgbClr val="2FA86A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Free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스토리지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825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스토리지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825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egress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227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8680" y="3630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활성 사용자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630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MAU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032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4032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2개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백업 / SLA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제공 안 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534924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FFF4E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349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7일간 요청 없으면 프로젝트 자동 일시정지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1F6FA"/>
          </a:solidFill>
          <a:ln/>
          <a:effectLst>
            <a:outerShdw sx="100000" sy="100000" kx="0" ky="0" algn="bl" rotWithShape="0" blurRad="63500" dist="25400" dir="5400000">
              <a:srgbClr val="9BB4CC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463040"/>
            <a:ext cx="521208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6309360" y="1828800"/>
            <a:ext cx="52120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14630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Free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29400" y="2423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컴퓨트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8239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CU-hour / 프로젝트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629400" y="2825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23960" y="2825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GB / 프로젝트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2940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23960" y="32278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100개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629400" y="363016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 수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823960" y="363016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프로젝트당 10개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629400" y="403250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Auth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23960" y="403250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60,000 포함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629400" y="4434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과금 방식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823960" y="4434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Scale-to-zero 필수 적용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5349240"/>
            <a:ext cx="4572000" cy="411480"/>
          </a:xfrm>
          <a:prstGeom prst="roundRect">
            <a:avLst>
              <a:gd name="adj" fmla="val 17778"/>
            </a:avLst>
          </a:prstGeom>
          <a:solidFill>
            <a:srgbClr val="FFF4E0"/>
          </a:solidFill>
          <a:ln/>
        </p:spPr>
      </p:sp>
      <p:sp>
        <p:nvSpPr>
          <p:cNvPr id="43" name="Text 41"/>
          <p:cNvSpPr/>
          <p:nvPr/>
        </p:nvSpPr>
        <p:spPr>
          <a:xfrm>
            <a:off x="6766560" y="5349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유휴 시 콜드스타트 — 프로덕션 상시 운영엔 부적합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VS NEON · PAID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유료 요금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1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27632"/>
            <a:ext cx="457200" cy="45720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276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Pro — 월 $25 정액 + 초과 종량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포함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860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8GB · MAU 10만 · 스토리지 100GB · egress 250GB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7157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초과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86000" y="27157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GB당 $0.125/월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14553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초과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31455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GB당 $0.09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초과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86000" y="35753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1인당 $0.00325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4005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실사용 체감가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86000" y="40050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$35 ~ $75 (소규모 기준)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5394960" cy="3063240"/>
          </a:xfrm>
          <a:prstGeom prst="roundRect">
            <a:avLst>
              <a:gd name="adj" fmla="val 2985"/>
            </a:avLst>
          </a:prstGeom>
          <a:solidFill>
            <a:srgbClr val="F1F6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62763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16276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— 최소요금 없는 순수 종량제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2860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컴퓨트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228600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CU-hour당 $0.106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27157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컴퓨트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01000" y="27157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CU-hour당 $0.222 (SLA·SOC2·SSO 포함)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314553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01000" y="31455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GB-월당 $0.35 (공통)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92240" y="357530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요금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01000" y="35753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 (2026년 정책 폐지)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400507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과금 원리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01000" y="400507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쓴 만큼만, 유휴 시 자동 절감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월 컴퓨트 사용량이 적을 때(약 100시간) 예상 비용</a:t>
            </a:r>
            <a:endParaRPr lang="en-US" sz="125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548640" y="4937760"/>
          <a:ext cx="57607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6492240" y="54864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예시 산정 : Neon = 100 CU-hr × $0.106 + 스토리지 1GB × $0.35 ≈ $11 / 이용 패턴에 따라 역전 가능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OPTION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Vercel이란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356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Next.js를 만든 회사가 직접 운영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1109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연결만으로 zero-config 자동 배포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05456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8658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PR마다 자동 생성되는 프리뷰 URL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620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엣지 네트워크로 서빙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09728" cy="109728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37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 · Edge Functions 등 Next.js 특화 기능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1463040"/>
            <a:ext cx="1965960" cy="4206240"/>
          </a:xfrm>
          <a:prstGeom prst="roundRect">
            <a:avLst>
              <a:gd name="adj" fmla="val 3721"/>
            </a:avLst>
          </a:prstGeom>
          <a:solidFill>
            <a:srgbClr val="F1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14630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1719072"/>
            <a:ext cx="1965960" cy="246888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Hobby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24505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비상업 전용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2880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대역폭 100GB/월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7784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실행 100만회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빌드 100분/월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1463040"/>
            <a:ext cx="1965960" cy="4206240"/>
          </a:xfrm>
          <a:prstGeom prst="roundRect">
            <a:avLst>
              <a:gd name="adj" fmla="val 3721"/>
            </a:avLst>
          </a:prstGeom>
          <a:solidFill>
            <a:srgbClr val="F1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14630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1719072"/>
            <a:ext cx="1965960" cy="2468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6352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$20/席/월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35240" y="24505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프로덕션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2880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대역폭 1TB/월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2668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 1,000 GB-hr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2668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체감가 ~$67/월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784080" y="1463040"/>
            <a:ext cx="1965960" cy="4206240"/>
          </a:xfrm>
          <a:prstGeom prst="roundRect">
            <a:avLst>
              <a:gd name="adj" fmla="val 3721"/>
            </a:avLst>
          </a:prstGeom>
          <a:solidFill>
            <a:srgbClr val="F1F6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784080" y="14630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0B3D5C"/>
          </a:solidFill>
          <a:ln/>
        </p:spPr>
      </p:sp>
      <p:sp>
        <p:nvSpPr>
          <p:cNvPr id="36" name="Shape 34"/>
          <p:cNvSpPr/>
          <p:nvPr/>
        </p:nvSpPr>
        <p:spPr>
          <a:xfrm>
            <a:off x="9784080" y="1719072"/>
            <a:ext cx="1965960" cy="246888"/>
          </a:xfrm>
          <a:prstGeom prst="rect">
            <a:avLst/>
          </a:prstGeom>
          <a:solidFill>
            <a:srgbClr val="0B3D5C"/>
          </a:solidFill>
          <a:ln/>
        </p:spPr>
      </p:sp>
      <p:sp>
        <p:nvSpPr>
          <p:cNvPr id="37" name="Text 35"/>
          <p:cNvSpPr/>
          <p:nvPr/>
        </p:nvSpPr>
        <p:spPr>
          <a:xfrm>
            <a:off x="9784080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7840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$3,500~/월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784080" y="24505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조직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75520" y="28803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· 보안 · 컴플라이언스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875520" y="3474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커스텀 계약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875520" y="40690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지원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Hobby — “상업적 이용” 기준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 기준: 프로젝트 제작에 관여한 누군가의 금전적 이득을 위한 배포이면 상업적 이용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1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B0453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50008"/>
            <a:ext cx="5394960" cy="256032"/>
          </a:xfrm>
          <a:prstGeom prst="rect">
            <a:avLst/>
          </a:prstGeom>
          <a:solidFill>
            <a:srgbClr val="B045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상업적 이용에 해당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2889504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614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결제·구독 등 금전 처리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후원(도네이션) 수령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950208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822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또는 제휴 링크 게재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35254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클라이언트 작업물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010912"/>
            <a:ext cx="91440" cy="91440"/>
          </a:xfrm>
          <a:prstGeom prst="ellipse">
            <a:avLst/>
          </a:prstGeom>
          <a:solidFill>
            <a:srgbClr val="B0453D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88289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법인(주식회사 등) 소유 프로젝트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20574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1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05740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2C7A4B"/>
          </a:solidFill>
          <a:ln/>
        </p:spPr>
      </p:sp>
      <p:sp>
        <p:nvSpPr>
          <p:cNvPr id="21" name="Shape 19"/>
          <p:cNvSpPr/>
          <p:nvPr/>
        </p:nvSpPr>
        <p:spPr>
          <a:xfrm>
            <a:off x="6263640" y="2350008"/>
            <a:ext cx="5394960" cy="256032"/>
          </a:xfrm>
          <a:prstGeom prst="rect">
            <a:avLst/>
          </a:prstGeom>
          <a:solidFill>
            <a:srgbClr val="2C7A4B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2057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비상업으로 인정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37960" y="2889504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7614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수익화 없는 개인 블로그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37960" y="3419856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29184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랜딩페이지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37960" y="3950208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38221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비상업 프로젝트 문서 사이트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37960" y="4480560"/>
            <a:ext cx="91440" cy="91440"/>
          </a:xfrm>
          <a:prstGeom prst="ellipse">
            <a:avLst/>
          </a:prstGeom>
          <a:solidFill>
            <a:srgbClr val="2C7A4B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435254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학습용 데모, 수익 없는 프로젝트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109960" cy="594360"/>
          </a:xfrm>
          <a:prstGeom prst="roundRect">
            <a:avLst>
              <a:gd name="adj" fmla="val 12308"/>
            </a:avLst>
          </a:prstGeom>
          <a:solidFill>
            <a:srgbClr val="FFF4E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8064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적용: 무료·개인 운영 단계는 Hobby 조건에 해당할 수 있음 — 수익화 또는 사용자 증가 시 Pro 전환 필요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Render란 — 통합 플랫폼 대안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457200"/>
            <a:ext cx="548640" cy="54864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Vercel(호스팅) + Neon/Supabase(DB) 조합을 한 플랫폼으로 대체 가능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무료 티어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2596896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웹서비스 512MB RAM / 0.1 CPU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944368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834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256MB — 30일 후 만료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291840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18211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대역폭 100GB · 빌드 500분/월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639312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128" y="352958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 미사용 시 슬립 + 콜드스타트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201168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1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488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4F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유료 요금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2596896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20" name="Text 18"/>
          <p:cNvSpPr/>
          <p:nvPr/>
        </p:nvSpPr>
        <p:spPr>
          <a:xfrm>
            <a:off x="6739128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슬립 방지 최소 $7/월부터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2944368"/>
            <a:ext cx="82296" cy="82296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22" name="Text 20"/>
          <p:cNvSpPr/>
          <p:nvPr/>
        </p:nvSpPr>
        <p:spPr>
          <a:xfrm>
            <a:off x="6739128" y="2834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플랜 $25/월부터 (무제한 사용자)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2461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FF4E0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2461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Next.js 전용 최적화는 Vercel 대비 약함 (ISR/Edge Functions 등)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적합한 경우 : 플랫폼 하나로 운영을 단순화하고 싶을 때 · Next.js 최적화보다 통합 관리가 우선일 때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종합 비교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92608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74320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+ Neon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+ Supabase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0" y="1554480"/>
            <a:ext cx="2743200" cy="502920"/>
          </a:xfrm>
          <a:prstGeom prst="rect">
            <a:avLst/>
          </a:prstGeom>
          <a:solidFill>
            <a:srgbClr val="0B3D5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5544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단독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05740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유휴 많은 초기 비용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20574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(정액 $25)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1120" y="20574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낮음~중간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651760"/>
            <a:ext cx="292608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최적화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265176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65176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961120" y="265176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0" y="26517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24612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Auth/Storage 등 부가기능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구현 필요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제공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지원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840480"/>
            <a:ext cx="292608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4048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브랜칭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384048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384048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961120" y="3840480"/>
            <a:ext cx="2743200" cy="594360"/>
          </a:xfrm>
          <a:prstGeom prst="rect">
            <a:avLst/>
          </a:prstGeom>
          <a:solidFill>
            <a:srgbClr val="F1F6FA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미지원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48640" y="4434840"/>
            <a:ext cx="292608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34840"/>
            <a:ext cx="2926080" cy="594360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플랫폼 수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474720" y="44348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2곳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17920" y="44348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2곳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961120" y="443484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4434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1곳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ScoreCaddie 배포 방안 검토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추천안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+ Neon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0" y="822960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2080" y="8229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822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(초기엔 Vercel Hobby로 시작 → 수익화·트래픽 증가 시 Pro 전환)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848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NextAuth로 인증을 자체 구현 — Supabase의 Auth·Storage 번들이 필요 없음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877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초기는 트래픽이 적어 유휴 시간이 많음 — Neon의 scale-to-zero가 비용에 유리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09067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프로젝트가 Next.js 기반이라 Vercel의 ISR·Edge 최적화를 그대로 활용 가능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9359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지금은 무료·비상업 운영이라 Vercel Hobby로 비용 없이 바로 시작 가능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109960" cy="777240"/>
          </a:xfrm>
          <a:prstGeom prst="roundRect">
            <a:avLst>
              <a:gd name="adj" fmla="val 11765"/>
            </a:avLst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조건부 재검토 : 트래픽이 꾸준해지면 Supabase Pro 정액제 / Neon Scale($0.222/CU-hr, SLA 포함)을 다시 비교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715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715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5715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예산·도메인 여부 확정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5715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3128" y="5715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5715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계정 생성 및 연결 테스트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5715000"/>
            <a:ext cx="3566160" cy="640080"/>
          </a:xfrm>
          <a:prstGeom prst="roundRect">
            <a:avLst>
              <a:gd name="adj" fmla="val 50000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57150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0" y="57150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프로젝트 연동 및 배포 리허설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F4A8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결정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+ Supabase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892040" y="1033272"/>
            <a:ext cx="548640" cy="54864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4892040" y="1033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32120" y="1033272"/>
            <a:ext cx="548640" cy="548640"/>
          </a:xfrm>
          <a:prstGeom prst="ellipse">
            <a:avLst/>
          </a:prstGeom>
          <a:solidFill>
            <a:srgbClr val="2FA86A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1033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추천안(Vercel + Neon)에서 논의 후 확정 — Neon의 콜드스타트를 피하고 항상 켜져 있는 Supabase로 결정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286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Neon은 유휴 후 재접속 시 약 0.5~1.8초 콜드스타트가 발생 — Supabase Pro는 항상 켜져 있어 이 지연이 아예 없음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81528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44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$25 정액이라 트래픽이 늘어도 비용이 예측 가능함 (Neon 종량제는 사용 패턴에 따라 변동)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0273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Auth·Storage·Realtime이 이미 포함 — 추후 프로필 사진 업로드, 실시간 스코어 갱신 등이 생겨도 바로 활용 가능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128016" cy="128016"/>
          </a:xfrm>
          <a:prstGeom prst="ellipse">
            <a:avLst/>
          </a:prstGeom>
          <a:solidFill>
            <a:srgbClr val="F4A82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2611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Neon의 장점(DB 브랜칭, 유휴 시 비용 절감)은 ScoreCaddie 초기 단계에 꼭 필요한 기능은 아니라고 판단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109960" cy="594360"/>
          </a:xfrm>
          <a:prstGeom prst="roundRect">
            <a:avLst>
              <a:gd name="adj" fmla="val 15385"/>
            </a:avLst>
          </a:prstGeom>
          <a:solidFill>
            <a:srgbClr val="2FA86A">
              <a:alpha val="20000"/>
            </a:srgbClr>
          </a:solidFill>
          <a:ln w="12700">
            <a:solidFill>
              <a:srgbClr val="2FA8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578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스택 확정: 호스팅 Vercel · 데이터베이스 Supabase — 이 결정을 기준으로 다음 단계 진행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다음 단계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3566160" cy="502920"/>
          </a:xfrm>
          <a:prstGeom prst="roundRect">
            <a:avLst>
              <a:gd name="adj" fmla="val 50909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550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6355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 예산·도메인 여부 확정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6355080"/>
            <a:ext cx="3566160" cy="502920"/>
          </a:xfrm>
          <a:prstGeom prst="roundRect">
            <a:avLst>
              <a:gd name="adj" fmla="val 50909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63550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6355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프로젝트 생성 및 연결 테스트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38160" y="6355080"/>
            <a:ext cx="3566160" cy="502920"/>
          </a:xfrm>
          <a:prstGeom prst="roundRect">
            <a:avLst>
              <a:gd name="adj" fmla="val 50909"/>
            </a:avLst>
          </a:prstGeom>
          <a:solidFill>
            <a:srgbClr val="1233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63550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8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0" y="63550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프로젝트 연동 및 배포 리허설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ScoreCaddie 배포 방안 검토</dc:title>
  <dc:subject>PptxGenJS Presentation</dc:subject>
  <dc:creator>ScoreCaddie PM</dc:creator>
  <cp:lastModifiedBy>ScoreCaddie PM</cp:lastModifiedBy>
  <cp:revision>1</cp:revision>
  <dcterms:created xsi:type="dcterms:W3CDTF">2026-07-27T04:35:27Z</dcterms:created>
  <dcterms:modified xsi:type="dcterms:W3CDTF">2026-07-27T04:35:27Z</dcterms:modified>
</cp:coreProperties>
</file>