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88952" cy="14630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82296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" name="Image 0" descr="icon_golf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478" y="1084478"/>
            <a:ext cx="482803" cy="4828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ScoreCaddie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3152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개인 골프 스코어 관리 서비스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77240" y="3520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· 설계 진행 보고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77240" y="5806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2026. 07. 15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58064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진행 요약 · 기획/설계 스냅샷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개인(또는 소규모 그룹)의 골프 라운드 스코어를 골프장·일자·홀 단위로 기록하고 조회하는 웹 서비스. 회원가입은 불특정 다수를 대상으로 개방형으로 설계하며, 이메일/비밀번호와 구글·카카오 소셜 로그인을 함께 지원한다.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79476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6F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91363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6634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26080" y="379476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6F2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0" y="391363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926080" y="46634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설계된 화면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12080" y="379476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2F6F2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391363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212080" y="46634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테이블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657600" cy="3749040"/>
          </a:xfrm>
          <a:prstGeom prst="roundRect">
            <a:avLst>
              <a:gd name="adj" fmla="val 3000"/>
            </a:avLst>
          </a:prstGeom>
          <a:solidFill>
            <a:srgbClr val="1F4D2C"/>
          </a:solidFill>
          <a:ln/>
        </p:spPr>
      </p:sp>
      <p:sp>
        <p:nvSpPr>
          <p:cNvPr id="14" name="Shape 12"/>
          <p:cNvSpPr/>
          <p:nvPr/>
        </p:nvSpPr>
        <p:spPr>
          <a:xfrm>
            <a:off x="8183880" y="1783080"/>
            <a:ext cx="777240" cy="7772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0" descr="icon_golf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962" y="1985162"/>
            <a:ext cx="373075" cy="37307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1381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기반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풀스택 웹 서비스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8138160" y="37033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· Tailwind · Prisma · PostgreSQL · NextAuth 조합으로 MVP를 빠르게 구축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13816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스택 → 다음 슬라이드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기능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확정된 5가지 핵심 기능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9584" cy="1828800"/>
          </a:xfrm>
          <a:prstGeom prst="roundRect">
            <a:avLst>
              <a:gd name="adj" fmla="val 5000"/>
            </a:avLst>
          </a:prstGeom>
          <a:solidFill>
            <a:srgbClr val="F2F6F2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039112"/>
            <a:ext cx="640080" cy="64008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6" name="Image 0" descr="icon_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3" y="2205533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회원관리 및 로그인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96112" y="31363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이메일/비밀번호 + 구글·카카오 소셜 로그인 (NextAuth)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425696" y="1783080"/>
            <a:ext cx="3529584" cy="1828800"/>
          </a:xfrm>
          <a:prstGeom prst="roundRect">
            <a:avLst>
              <a:gd name="adj" fmla="val 5000"/>
            </a:avLst>
          </a:prstGeom>
          <a:solidFill>
            <a:srgbClr val="F2F6F2"/>
          </a:solidFill>
          <a:ln/>
        </p:spPr>
      </p:sp>
      <p:sp>
        <p:nvSpPr>
          <p:cNvPr id="10" name="Shape 7"/>
          <p:cNvSpPr/>
          <p:nvPr/>
        </p:nvSpPr>
        <p:spPr>
          <a:xfrm>
            <a:off x="4681728" y="2039112"/>
            <a:ext cx="640080" cy="64008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11" name="Image 1" descr="icon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49" y="2205533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81728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리스트 관리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681728" y="31363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공공데이터포털 골프장 인허가 데이터 연동, 관리자 보정 가능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11312" y="1783080"/>
            <a:ext cx="3529584" cy="1828800"/>
          </a:xfrm>
          <a:prstGeom prst="roundRect">
            <a:avLst>
              <a:gd name="adj" fmla="val 5000"/>
            </a:avLst>
          </a:prstGeom>
          <a:solidFill>
            <a:srgbClr val="F2F6F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67344" y="2039112"/>
            <a:ext cx="640080" cy="64008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16" name="Image 2" descr="icon_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765" y="2205533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67344" y="2788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날씨 정보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467344" y="31363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기상청 단기예보 API로 라운드 관련 날씨 표시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40080" y="3840480"/>
            <a:ext cx="3529584" cy="1828800"/>
          </a:xfrm>
          <a:prstGeom prst="roundRect">
            <a:avLst>
              <a:gd name="adj" fmla="val 5000"/>
            </a:avLst>
          </a:prstGeom>
          <a:solidFill>
            <a:srgbClr val="E9F0E9"/>
          </a:solidFill>
          <a:ln/>
        </p:spPr>
      </p:sp>
      <p:sp>
        <p:nvSpPr>
          <p:cNvPr id="20" name="Shape 15"/>
          <p:cNvSpPr/>
          <p:nvPr/>
        </p:nvSpPr>
        <p:spPr>
          <a:xfrm>
            <a:off x="896112" y="4096512"/>
            <a:ext cx="640080" cy="64008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21" name="Image 3" descr="icon_edi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533" y="4262933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6112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96112" y="51937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골프장·일자·홀별 타수 입력, 홀별 메모 기능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425696" y="3840480"/>
            <a:ext cx="3529584" cy="1828800"/>
          </a:xfrm>
          <a:prstGeom prst="roundRect">
            <a:avLst>
              <a:gd name="adj" fmla="val 5000"/>
            </a:avLst>
          </a:prstGeom>
          <a:solidFill>
            <a:srgbClr val="E9F0E9"/>
          </a:solidFill>
          <a:ln/>
        </p:spPr>
      </p:sp>
      <p:sp>
        <p:nvSpPr>
          <p:cNvPr id="25" name="Shape 19"/>
          <p:cNvSpPr/>
          <p:nvPr/>
        </p:nvSpPr>
        <p:spPr>
          <a:xfrm>
            <a:off x="4681728" y="4096512"/>
            <a:ext cx="640080" cy="64008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26" name="Image 4" descr="icon_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149" y="4262933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81728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조회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4681728" y="51937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일자별 조회, 회원별 조회</a:t>
            </a:r>
            <a:endParaRPr lang="en-US" sz="1050" dirty="0"/>
          </a:p>
        </p:txBody>
      </p:sp>
      <p:sp>
        <p:nvSpPr>
          <p:cNvPr id="29" name="Text 2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스택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단계 제안 스택 (확정 완료)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57200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영역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 스택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프론트엔드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(React) + TypeScript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SSR/SEO, 풀스택 구성 용이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스타일링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 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빠른 UI 개발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백엔드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API Routes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별도 서버 없이 통합 운영 (MVP 적합)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Prisma 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관계형 데이터에 적합, 타입 안전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NextAuth.js (Auth.js)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이메일/소셜 로그인 손쉽게 구현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날씨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기상청 단기예보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국내 서비스 적합, 좌표 기반 조회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+ Supabase/Neon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단계 무료/저비용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주요 정책 결정사항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2026-07-14 확정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2F6F2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02536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6" name="Image 0" descr="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2145182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911096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 범위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27685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불특정 다수 대상 서비스형. 회원가입 개방형으로 설계.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95351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2F6F2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172968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11" name="Image 1" descr="icon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46" y="3315614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0815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방식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91640" y="34472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이메일/비밀번호 + 소셜 로그인(구글/카카오) 병행, NextAuth.js로 통합 구현.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412394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2F6F2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343400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16" name="Image 2" descr="icon_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44860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2519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데이터 소스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91640" y="4617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공공데이터포털 "행정안전부_골프장" 인허가 데이터(전국 취합, 상호·주소·좌표 포함)를 초기 시드로 사용, 관리자 보정 가능하도록 설계.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29437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2F6F2"/>
          </a:solidFill>
          <a:ln/>
        </p:spPr>
      </p:sp>
      <p:sp>
        <p:nvSpPr>
          <p:cNvPr id="20" name="Shape 15"/>
          <p:cNvSpPr/>
          <p:nvPr/>
        </p:nvSpPr>
        <p:spPr>
          <a:xfrm>
            <a:off x="914400" y="5513832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21" name="Image 3" descr="icon_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046" y="5656478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4223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날씨 API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691640" y="578815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기상청 단기예보 API(공공데이터포털) — 국내 서비스에 적합, 좌표 기반 조회.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스키마 설계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핵심 테이블 구조 (docs/db-schema.md)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2468880" cy="1051560"/>
          </a:xfrm>
          <a:prstGeom prst="roundRect">
            <a:avLst>
              <a:gd name="adj" fmla="val 8696"/>
            </a:avLst>
          </a:prstGeom>
          <a:solidFill>
            <a:srgbClr val="1F4D2C"/>
          </a:solidFill>
          <a:ln/>
        </p:spPr>
      </p:sp>
      <p:sp>
        <p:nvSpPr>
          <p:cNvPr id="5" name="Text 3"/>
          <p:cNvSpPr/>
          <p:nvPr/>
        </p:nvSpPr>
        <p:spPr>
          <a:xfrm>
            <a:off x="1078992" y="205740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78992" y="244144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 정보, 인증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805672" y="1965960"/>
            <a:ext cx="2468880" cy="1051560"/>
          </a:xfrm>
          <a:prstGeom prst="roundRect">
            <a:avLst>
              <a:gd name="adj" fmla="val 8696"/>
            </a:avLst>
          </a:prstGeom>
          <a:solidFill>
            <a:srgbClr val="1F4D2C"/>
          </a:solidFill>
          <a:ln/>
        </p:spPr>
      </p:sp>
      <p:sp>
        <p:nvSpPr>
          <p:cNvPr id="8" name="Text 6"/>
          <p:cNvSpPr/>
          <p:nvPr/>
        </p:nvSpPr>
        <p:spPr>
          <a:xfrm>
            <a:off x="8970264" y="205740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70264" y="244144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정보, 좌표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60036" y="3520440"/>
            <a:ext cx="2468880" cy="1051560"/>
          </a:xfrm>
          <a:prstGeom prst="roundRect">
            <a:avLst>
              <a:gd name="adj" fmla="val 8696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5024628" y="361188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4628" y="399592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라운드(방문) 기록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60036" y="5074920"/>
            <a:ext cx="2468880" cy="1051560"/>
          </a:xfrm>
          <a:prstGeom prst="roundRect">
            <a:avLst>
              <a:gd name="adj" fmla="val 8696"/>
            </a:avLst>
          </a:prstGeom>
          <a:solidFill>
            <a:srgbClr val="6FA167"/>
          </a:solidFill>
          <a:ln/>
        </p:spPr>
      </p:sp>
      <p:sp>
        <p:nvSpPr>
          <p:cNvPr id="14" name="Text 12"/>
          <p:cNvSpPr/>
          <p:nvPr/>
        </p:nvSpPr>
        <p:spPr>
          <a:xfrm>
            <a:off x="5024628" y="51663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HoleScore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4628" y="5550408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4E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홀별 타수 · 메모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48840" y="3017520"/>
            <a:ext cx="3945636" cy="50292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094476" y="3017520"/>
            <a:ext cx="3945636" cy="50292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6094476" y="4572000"/>
            <a:ext cx="0" cy="50292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Round이 User·GolfCourse를 참조하고, HoleScore가 Round에 종속되는 1:N 관계 구조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설계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10개 화면 · 대시보드 허브형 구조 (docs/pages.md)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937760" y="3017520"/>
            <a:ext cx="1463040" cy="1463040"/>
          </a:xfrm>
          <a:prstGeom prst="ellipse">
            <a:avLst/>
          </a:prstGeom>
          <a:solidFill>
            <a:srgbClr val="1F4D2C"/>
          </a:solidFill>
          <a:ln/>
        </p:spPr>
      </p:sp>
      <p:sp>
        <p:nvSpPr>
          <p:cNvPr id="5" name="Text 3"/>
          <p:cNvSpPr/>
          <p:nvPr/>
        </p:nvSpPr>
        <p:spPr>
          <a:xfrm>
            <a:off x="4937760" y="3520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82000" y="2131005"/>
            <a:ext cx="1938125" cy="1280812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345556" y="2094538"/>
            <a:ext cx="2786417" cy="1375625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72105" y="3951917"/>
            <a:ext cx="2721705" cy="950485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137089" y="3999032"/>
            <a:ext cx="1844713" cy="873923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46304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2F6F2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5910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 · 상세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052560" y="146304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2F6F2"/>
          </a:solidFill>
          <a:ln/>
        </p:spPr>
      </p:sp>
      <p:sp>
        <p:nvSpPr>
          <p:cNvPr id="14" name="Text 12"/>
          <p:cNvSpPr/>
          <p:nvPr/>
        </p:nvSpPr>
        <p:spPr>
          <a:xfrm>
            <a:off x="9189720" y="15910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52560" y="45720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2F6F2"/>
          </a:solidFill>
          <a:ln/>
        </p:spPr>
      </p:sp>
      <p:sp>
        <p:nvSpPr>
          <p:cNvPr id="16" name="Text 14"/>
          <p:cNvSpPr/>
          <p:nvPr/>
        </p:nvSpPr>
        <p:spPr>
          <a:xfrm>
            <a:off x="9189720" y="47000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조회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8972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 · 상세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7280" y="45720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2F6F2"/>
          </a:solidFill>
          <a:ln/>
        </p:spPr>
      </p:sp>
      <p:sp>
        <p:nvSpPr>
          <p:cNvPr id="19" name="Text 17"/>
          <p:cNvSpPr/>
          <p:nvPr/>
        </p:nvSpPr>
        <p:spPr>
          <a:xfrm>
            <a:off x="1234440" y="47000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마이페이지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진입 화면: 랜딩 · 로그인 · 회원가입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구현 진행 현황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349240" cy="4892040"/>
          </a:xfrm>
          <a:prstGeom prst="roundRect">
            <a:avLst>
              <a:gd name="adj" fmla="val 2243"/>
            </a:avLst>
          </a:prstGeom>
          <a:solidFill>
            <a:srgbClr val="F2F6F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45920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pic>
        <p:nvPicPr>
          <p:cNvPr id="5" name="Image 0" descr="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788566"/>
            <a:ext cx="263347" cy="2633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60120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요구사항 수집 &amp; 초기 기획 문서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60120" y="29535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DB 스키마 설계 (docs/db-schema.md)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357530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화면(10개) 설계 (docs/pages.md)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60120" y="419709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구현 1단계: 프로젝트 구조 + 인증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0120" y="48188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구현 2단계-a: 골프장 공공데이터 연동(백엔드)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60120" y="5440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Prisma 런타임 버그 수정 및 네트워크 검증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99632" y="1371600"/>
            <a:ext cx="5349240" cy="4892040"/>
          </a:xfrm>
          <a:prstGeom prst="roundRect">
            <a:avLst>
              <a:gd name="adj" fmla="val 2243"/>
            </a:avLst>
          </a:prstGeom>
          <a:solidFill>
            <a:srgbClr val="1F4D2C"/>
          </a:solidFill>
          <a:ln/>
        </p:spPr>
      </p:sp>
      <p:sp>
        <p:nvSpPr>
          <p:cNvPr id="14" name="Shape 11"/>
          <p:cNvSpPr/>
          <p:nvPr/>
        </p:nvSpPr>
        <p:spPr>
          <a:xfrm>
            <a:off x="6473952" y="164592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1" descr="icon_hourgl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598" y="1788566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59752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예정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519672" y="2331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골프장 목록/상세 화면(UI) 구현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19672" y="29535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좌표 결측 지오코딩 배치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519672" y="357530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스코어 등록/조회 기능 구현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519672" y="419709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날씨 연동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6519672" y="481888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테스트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519672" y="5440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배포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주요 이슈 및 해결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349240" cy="4663440"/>
          </a:xfrm>
          <a:prstGeom prst="roundRect">
            <a:avLst>
              <a:gd name="adj" fmla="val 2353"/>
            </a:avLst>
          </a:prstGeom>
          <a:solidFill>
            <a:srgbClr val="E9F0E9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737360"/>
            <a:ext cx="594360" cy="594360"/>
          </a:xfrm>
          <a:prstGeom prst="ellipse">
            <a:avLst/>
          </a:prstGeom>
          <a:solidFill>
            <a:srgbClr val="D99A3C"/>
          </a:solidFill>
          <a:ln/>
        </p:spPr>
      </p:sp>
      <p:pic>
        <p:nvPicPr>
          <p:cNvPr id="5" name="Image 0" descr="icon_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934" y="189189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514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7 런타임 초기화 버그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32004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PrismaClient가 schema.prisma의 datasource.url이나 DATABASE_URL을 런타임에 자동으로 읽지 않아, 배포 시 즉시 크래시할 잠재적 심각 버그였음.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48920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@prisma/adapter-pg로 커넥션을 명시적으로 전달하도록 수정, 재검증 완료.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463040"/>
            <a:ext cx="5349240" cy="4663440"/>
          </a:xfrm>
          <a:prstGeom prst="roundRect">
            <a:avLst>
              <a:gd name="adj" fmla="val 2353"/>
            </a:avLst>
          </a:prstGeom>
          <a:solidFill>
            <a:srgbClr val="E9F0E9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737360"/>
            <a:ext cx="594360" cy="594360"/>
          </a:xfrm>
          <a:prstGeom prst="ellipse">
            <a:avLst/>
          </a:prstGeom>
          <a:solidFill>
            <a:srgbClr val="D99A3C"/>
          </a:solidFill>
          <a:ln/>
        </p:spPr>
      </p:sp>
      <p:pic>
        <p:nvPicPr>
          <p:cNvPr id="11" name="Image 1" descr="icon_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774" y="18918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92240" y="25146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좌표계 불일치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32004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 좌표가 WGS84가 아닌 TM 중부원점(EPSG:5174)이며, 다수 레코드가 좌표값 결측.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92240" y="48920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proj4 기반 변환 유틸 작성 및 실측 검증. 결측 건은 needsGeocoding 플래그로 표시 후 추후 배치 처리.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875520" y="502920"/>
            <a:ext cx="822960" cy="82296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4" name="Image 0" descr="icon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9490" y="716890"/>
            <a:ext cx="395021" cy="395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920240"/>
            <a:ext cx="548640" cy="54864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508760" y="19751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목록/상세 화면(UI) 구현 → 좌표 결측 지오코딩 배치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880360"/>
            <a:ext cx="548640" cy="54864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508760" y="293522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등록/조회 구현 → 날씨 연동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840480"/>
            <a:ext cx="548640" cy="54864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508760" y="389534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 테스트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800600"/>
            <a:ext cx="548640" cy="54864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4800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508760" y="485546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(Vercel + Supabase/Neon)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논의가 필요한 사항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2F6F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148840"/>
            <a:ext cx="640080" cy="640080"/>
          </a:xfrm>
          <a:prstGeom prst="ellipse">
            <a:avLst/>
          </a:prstGeom>
          <a:solidFill>
            <a:srgbClr val="D99A3C"/>
          </a:solidFill>
          <a:ln/>
        </p:spPr>
      </p:sp>
      <p:pic>
        <p:nvPicPr>
          <p:cNvPr id="5" name="Image 0" descr="icon_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31526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99339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입력 단위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783080" y="237744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홀별 타수 + 메모만인지, 퍼팅수/페어웨이 안착 등 상세 스탯 포함 여부 — 1차 MVP는 타수+메모만으로 제안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33756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2F6F2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657600"/>
            <a:ext cx="640080" cy="640080"/>
          </a:xfrm>
          <a:prstGeom prst="ellipse">
            <a:avLst/>
          </a:prstGeom>
          <a:solidFill>
            <a:srgbClr val="D99A3C"/>
          </a:solidFill>
          <a:ln/>
        </p:spPr>
      </p:sp>
      <p:pic>
        <p:nvPicPr>
          <p:cNvPr id="10" name="Image 1" descr="icon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2402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83080" y="350215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배포/호스팅 예산 및 도메인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783080" y="38862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예산 범위 및 도메인 확보 여부 확정 필요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2F6F2"/>
          </a:solidFill>
          <a:ln/>
        </p:spPr>
      </p:sp>
      <p:sp>
        <p:nvSpPr>
          <p:cNvPr id="14" name="Shape 10"/>
          <p:cNvSpPr/>
          <p:nvPr/>
        </p:nvSpPr>
        <p:spPr>
          <a:xfrm>
            <a:off x="914400" y="5166360"/>
            <a:ext cx="640080" cy="640080"/>
          </a:xfrm>
          <a:prstGeom prst="ellipse">
            <a:avLst/>
          </a:prstGeom>
          <a:solidFill>
            <a:srgbClr val="D99A3C"/>
          </a:solidFill>
          <a:ln/>
        </p:spPr>
      </p:sp>
      <p:pic>
        <p:nvPicPr>
          <p:cNvPr id="15" name="Image 2" descr="icon_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33278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83080" y="5010912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대응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783080" y="539496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반응형 웹으로 충분한지, 추후 네이티브 앱 전환을 고려할지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1920240"/>
            <a:ext cx="1371600" cy="13716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3" name="Image 0" descr="icon_flagfin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276856"/>
            <a:ext cx="658368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5661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0" y="42519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골프 스코어 관리 서비스 · 분석/설계 요약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2026-07-15T01:02:30Z</dcterms:created>
  <dcterms:modified xsi:type="dcterms:W3CDTF">2026-07-15T01:02:30Z</dcterms:modified>
</cp:coreProperties>
</file>