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0" r:id="rId21"/>
    <p:sldId id="263" r:id="rId9"/>
    <p:sldId id="271" r:id="rId22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  <Relationship Id="rId21" Type="http://schemas.openxmlformats.org/officeDocument/2006/relationships/slide" Target="slides/slide15.xml"/>
  <Relationship Id="rId22" Type="http://schemas.openxmlformats.org/officeDocument/2006/relationships/slide" Target="slides/slide16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2C5F2D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822960"/>
            <a:ext cx="1005840" cy="1005840"/>
          </a:xfrm>
          <a:prstGeom prst="roundRect">
            <a:avLst>
              <a:gd name="adj" fmla="val 13636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8229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2103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9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 골프 스코어 관리 서비스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ScoreCaddie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777240" y="35204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· 설계 진행 보고 (v4 갱신판)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5806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2026. 07. 16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0" y="58064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등록 화면 2-Step 재설계 · GolfCourseLoop 도입 반영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프로젝트 개요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6675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개인(또는 소규모 그룹)의 골프 라운드 스코어를 골프장·일자·홀 단위로 기록하고 조회하는 웹 서비스. 회원가입은 불특정 다수를 대상으로 개방형으로 설계하며, 이메일/비밀번호와 구글·카카오 소셜 로그인을 함께 지원한다. 골프장별 홀 Par(규정타수)는 관리자가 등록/CSV 업로드로 관리한다.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379476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F2F6F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391363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6634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기능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926080" y="379476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F2F6F2"/>
          </a:solidFill>
          <a:ln/>
        </p:spPr>
      </p:sp>
      <p:sp>
        <p:nvSpPr>
          <p:cNvPr id="8" name="Text 6"/>
          <p:cNvSpPr/>
          <p:nvPr/>
        </p:nvSpPr>
        <p:spPr>
          <a:xfrm>
            <a:off x="2926080" y="391363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926080" y="46634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설계된 화면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12080" y="3794760"/>
            <a:ext cx="2057400" cy="1371600"/>
          </a:xfrm>
          <a:prstGeom prst="roundRect">
            <a:avLst>
              <a:gd name="adj" fmla="val 5333"/>
            </a:avLst>
          </a:prstGeom>
          <a:solidFill>
            <a:srgbClr val="F2F6F2"/>
          </a:solidFill>
          <a:ln/>
        </p:spPr>
      </p:sp>
      <p:sp>
        <p:nvSpPr>
          <p:cNvPr id="11" name="Text 9"/>
          <p:cNvSpPr/>
          <p:nvPr/>
        </p:nvSpPr>
        <p:spPr>
          <a:xfrm>
            <a:off x="5212080" y="391363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D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212080" y="46634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핵심 테이블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657600" cy="3749040"/>
          </a:xfrm>
          <a:prstGeom prst="roundRect">
            <a:avLst>
              <a:gd name="adj" fmla="val 2000"/>
            </a:avLst>
          </a:prstGeom>
          <a:solidFill>
            <a:srgbClr val="1F4D2C"/>
          </a:solidFill>
          <a:ln/>
        </p:spPr>
      </p:sp>
      <p:sp>
        <p:nvSpPr>
          <p:cNvPr id="14" name="Shape 12"/>
          <p:cNvSpPr/>
          <p:nvPr/>
        </p:nvSpPr>
        <p:spPr>
          <a:xfrm>
            <a:off x="8183880" y="1783080"/>
            <a:ext cx="777240" cy="777240"/>
          </a:xfrm>
          <a:prstGeom prst="roundRect">
            <a:avLst>
              <a:gd name="adj" fmla="val 17647"/>
            </a:avLst>
          </a:prstGeom>
          <a:solidFill>
            <a:srgbClr val="2C5F2D"/>
          </a:solidFill>
          <a:ln/>
        </p:spPr>
      </p:sp>
      <p:sp>
        <p:nvSpPr>
          <p:cNvPr id="15" name="Text 13"/>
          <p:cNvSpPr/>
          <p:nvPr/>
        </p:nvSpPr>
        <p:spPr>
          <a:xfrm>
            <a:off x="8183880" y="17830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▲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13816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기반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풀스택 웹 서비스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138160" y="370332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· Tailwind · Prisma · PostgreSQL · NextAuth 조합으로 MVP를 빠르게 구축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38160" y="4800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99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 스택 → 다음 슬라이드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핵심 기능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확정된 6가지 핵심 기능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D99A3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88720" y="1691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회원관리 및 로그인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20756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이메일/비밀번호 + 구글·카카오 소셜 로그인 (NextAuth)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D99A3C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66560" y="1691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리스트 관리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66560" y="20756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공공데이터포털 골프장 인허가 데이터 연동, 관리자 보정 가능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718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D99A3C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88720" y="29260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날씨 정보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331012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기상청 단기예보 API로 라운드 관련 날씨 표시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29718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D99A3C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66560" y="29260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등록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766560" y="331012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골프장·일자·홀별 타수 입력, 홀별 메모(타수 옆 배치)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D99A3C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88720" y="41605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조회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188720" y="454456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기간·골프장·회원 범위 조회, 동의 회원만 전체 공개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1792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D99A3C"/>
          </a:solidFill>
          <a:ln/>
        </p:spPr>
      </p:sp>
      <p:sp>
        <p:nvSpPr>
          <p:cNvPr id="25" name="Text 23"/>
          <p:cNvSpPr/>
          <p:nvPr/>
        </p:nvSpPr>
        <p:spPr>
          <a:xfrm>
            <a:off x="621792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66560" y="416052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골프장 Par 관리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766560" y="454456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홀별 Par 개별 입력 + CSV 일괄 업로드, role=ADMIN 전용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기술 스택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단계 제안 스택 (확정 완료)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3566160"/>
        </p:xfrm>
        <a:graphic>
          <a:graphicData uri="http://schemas.openxmlformats.org/drawingml/2006/table">
            <a:tbl>
              <a:tblPr/>
              <a:tblGrid>
                <a:gridCol w="2011680"/>
                <a:gridCol w="3840480"/>
                <a:gridCol w="5029200"/>
              </a:tblGrid>
              <a:tr h="4457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영역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 스택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사유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2C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프론트엔드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Next.js (React) + TypeScript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SSR/SEO, 풀스택 구성 용이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스타일링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Tailwind CSS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빠른 UI 개발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백엔드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Next.js API Routes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별도 서버 없이 통합 운영 (MVP 적합)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+ Prisma 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관계형 데이터에 적합, 타입 안전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인증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NextAuth.js (Auth.js) + role 구분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이메일/소셜 로그인 + 관리자 권한 구분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날씨 API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기상청 단기예보 API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국내 서비스 적합, 좌표 기반 조회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Vercel + Supabase/Neon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MVP 단계 무료/저비용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9496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E9F0E9"/>
          </a:solidFill>
          <a:ln/>
        </p:spPr>
      </p:sp>
      <p:sp>
        <p:nvSpPr>
          <p:cNvPr id="6" name="Text 3"/>
          <p:cNvSpPr/>
          <p:nvPr/>
        </p:nvSpPr>
        <p:spPr>
          <a:xfrm>
            <a:off x="868680" y="5394960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 개발 DB 구성 완료: db/docker-compose.yml (PostgreSQL 16-alpine) — Docker Compose로 로컬 DB 기동 및 연결 검증 완료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주요 정책 결정사항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2026-07-15 갱신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2F6F2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8288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회원 범위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6712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불특정 다수 대상 서비스형. 회원가입 개방형으로 설계.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69164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2F6F2"/>
          </a:solidFill>
          <a:ln/>
        </p:spPr>
      </p:sp>
      <p:sp>
        <p:nvSpPr>
          <p:cNvPr id="8" name="Text 6"/>
          <p:cNvSpPr/>
          <p:nvPr/>
        </p:nvSpPr>
        <p:spPr>
          <a:xfrm>
            <a:off x="6446520" y="18288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방식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46520" y="216712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이메일/비밀번호 + 소셜 로그인(구글/카카오) 병행, NextAuth.js로 통합 구현.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10896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2F6F2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2461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데이터 소스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68680" y="358444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공공데이터포털 "행정안전부_골프장" 인허가 데이터를 초기 시드로 사용, 관리자 보정 가능.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108960"/>
            <a:ext cx="5120640" cy="1234440"/>
          </a:xfrm>
          <a:prstGeom prst="roundRect">
            <a:avLst>
              <a:gd name="adj" fmla="val 5926"/>
            </a:avLst>
          </a:prstGeom>
          <a:solidFill>
            <a:srgbClr val="F2F6F2"/>
          </a:solidFill>
          <a:ln/>
        </p:spPr>
      </p:sp>
      <p:sp>
        <p:nvSpPr>
          <p:cNvPr id="14" name="Text 12"/>
          <p:cNvSpPr/>
          <p:nvPr/>
        </p:nvSpPr>
        <p:spPr>
          <a:xfrm>
            <a:off x="6446520" y="32461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날씨 API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46520" y="358444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기상청 단기예보 API(공공데이터포털) — 국내 서비스에 적합, 좌표 기반 조회.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526280"/>
            <a:ext cx="10698480" cy="1005840"/>
          </a:xfrm>
          <a:prstGeom prst="roundRect">
            <a:avLst>
              <a:gd name="adj" fmla="val 7273"/>
            </a:avLst>
          </a:prstGeom>
          <a:solidFill>
            <a:srgbClr val="E9F0E9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63600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권한 (신규)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68680" y="4965192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User.role(USER/ADMIN)으로 구분. 골프장 홀 Par 등록·CSV 업로드 등 관리자 전용 화면은 role=ADMIN 계정만 접근 가능(서버 사이드 AdminGuard). 최초 관리자 계정은 DB에서 직접 지정.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 스키마 설계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6개 핵심 테이블 구조 (+ NextAuth 3개 별도) · prisma/schema.prisma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148840" y="2926080"/>
            <a:ext cx="3017520" cy="457200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6995160" y="2926080"/>
            <a:ext cx="3017520" cy="457200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012680" y="2926080"/>
            <a:ext cx="0" cy="320040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080760" y="4434840"/>
            <a:ext cx="0" cy="457200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187452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1F4D2C"/>
          </a:solidFill>
          <a:ln/>
        </p:spPr>
      </p:sp>
      <p:sp>
        <p:nvSpPr>
          <p:cNvPr id="9" name="Text 7"/>
          <p:cNvSpPr/>
          <p:nvPr/>
        </p:nvSpPr>
        <p:spPr>
          <a:xfrm>
            <a:off x="1078992" y="198424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78992" y="237744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 · 회원정보/인증/role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778240" y="187452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1F4D2C"/>
          </a:solidFill>
          <a:ln/>
        </p:spPr>
      </p:sp>
      <p:sp>
        <p:nvSpPr>
          <p:cNvPr id="12" name="Text 10"/>
          <p:cNvSpPr/>
          <p:nvPr/>
        </p:nvSpPr>
        <p:spPr>
          <a:xfrm>
            <a:off x="8942832" y="198424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GolfCourse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942832" y="237744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 · 골프장 정보, 좌표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778240" y="324612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6FA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942832" y="335584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GolfCourseLoop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942832" y="3749040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 · FK golfCourseId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flipV="1">
            <a:off x="10012680" y="4160520"/>
            <a:ext cx="0" cy="320040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778240" y="4480560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6FA167"/>
          </a:solidFill>
          <a:ln/>
        </p:spPr>
      </p:sp>
      <p:sp>
        <p:nvSpPr>
          <p:cNvPr id="27" name="Text 25"/>
          <p:cNvSpPr/>
          <p:nvPr/>
        </p:nvSpPr>
        <p:spPr>
          <a:xfrm>
            <a:off x="8942832" y="459028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GolfCourseHole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942832" y="4983480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 · FK loopId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338328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2C5F2D"/>
          </a:solidFill>
          <a:ln/>
        </p:spPr>
      </p:sp>
      <p:sp>
        <p:nvSpPr>
          <p:cNvPr id="18" name="Text 16"/>
          <p:cNvSpPr/>
          <p:nvPr/>
        </p:nvSpPr>
        <p:spPr>
          <a:xfrm>
            <a:off x="5010912" y="349300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010912" y="388620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 · holesPlayed(9/18)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userId · golfCourseId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A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frontLoopId · backLoopId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46320" y="4892040"/>
            <a:ext cx="2468880" cy="1051560"/>
          </a:xfrm>
          <a:prstGeom prst="roundRect">
            <a:avLst>
              <a:gd name="adj" fmla="val 6957"/>
            </a:avLst>
          </a:prstGeom>
          <a:solidFill>
            <a:srgbClr val="6FA167"/>
          </a:solidFill>
          <a:ln/>
        </p:spPr>
      </p:sp>
      <p:sp>
        <p:nvSpPr>
          <p:cNvPr id="21" name="Text 19"/>
          <p:cNvSpPr/>
          <p:nvPr/>
        </p:nvSpPr>
        <p:spPr>
          <a:xfrm>
            <a:off x="5010912" y="5001768"/>
            <a:ext cx="2139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HoleScore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10912" y="5394960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A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 id · FK roundId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Round이 User·GolfCourse를 참조하고, GolfCourseLoop은 GolfCourse의 9홀 단위 루프, GolfCourseHole은 그 루프별 Par. HoleScore는 Round에 종속되며 등록 시점 par를 스냅샷으로 보존한다. User.role로 관리자 구분.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 컬럼 정의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6개 핵심 테이블 필드 상세(PK/FK 명기) · 생성정보 필드는 설명 생략 · 스코어카드 신규 필드는 다음 슬라이드 참고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5349240" cy="4892031"/>
        </p:xfrm>
        <a:graphic>
          <a:graphicData uri="http://schemas.openxmlformats.org/drawingml/2006/table">
            <a:tbl>
              <a:tblPr/>
              <a:tblGrid>
                <a:gridCol w="1874520"/>
                <a:gridCol w="1417320"/>
                <a:gridCol w="2057400"/>
              </a:tblGrid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컬럼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2C"/>
                    </a:solidFill>
                  </a:tcPr>
                </a:tc>
              </a:tr>
              <a:tr h="212697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(PK)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키 (cuid)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/ image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이름 / 프로필 이미지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 (unique)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로그인 이메일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emailVerified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이메일 인증 시각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passwordHash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비밀번호 해시 (소셜 전용은 null)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(신규)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/ ADMIN 권한 구분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thirdPartyConsent (신규)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타인(제3자) 정보제공 동의(선택)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createdAt / updatedAt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생성 · 수정 시각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2697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GolfCourseLoop (신규)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(PK)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키 (cuid)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golfCourseId (FK)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GolfCourse 참조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루프명 (전반/후반 등)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sortOrder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(기본 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표시 순서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2697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(PK)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키 (cuid)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userId (FK) / golfCourseId (FK)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· GolfCourse 참조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frontLoopId / backLoopId (FK)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GolfCourseLoop 참조 (9홀이면 backLoopId null)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playedAt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라운드 일자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weatherSnapshot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String? (JSON)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라운드 당시 날씨 스냅샷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라운드 메모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createdAt / updatedAt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생성 · 수정 시각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63040"/>
          <a:ext cx="5349240" cy="4892031"/>
        </p:xfrm>
        <a:graphic>
          <a:graphicData uri="http://schemas.openxmlformats.org/drawingml/2006/table">
            <a:tbl>
              <a:tblPr/>
              <a:tblGrid>
                <a:gridCol w="1874520"/>
                <a:gridCol w="1417320"/>
                <a:gridCol w="2057400"/>
              </a:tblGrid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컬럼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2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설명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D2C"/>
                    </a:solidFill>
                  </a:tcPr>
                </a:tc>
              </a:tr>
              <a:tr h="212697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GolfCourse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(PK)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키 (cuid)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골프장명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주소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latitude / longitude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WGS84 변환 좌표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rawCoordX / rawCoordY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원본 좌표 (TM 중부원점)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needsGeocoding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좌표 결측 플래그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externalOrgCd / externalMngNo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공공데이터 원본 식별자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businessStatus / subCategory / publicPrivate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영업상태 · 세부업종 · 공공/민간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createdAt / updatedAt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생성 · 수정 시각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GolfCourseHole (신규)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(PK)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키 (cuid)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loopId (FK)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GolfCourseLoop 참조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holeNumber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(1~9)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홀 번호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(3/4/5)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홀 규정타수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2697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HoleScore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(PK)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기본 키 (cuid)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roundId (FK)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Round 참조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holeNumber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(1~18)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홀 번호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strokes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타수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Int? (신규)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등록 시점 GolfCourseHole.par 스냅샷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2"/>
                    </a:solidFill>
                  </a:tcPr>
                </a:tc>
              </a:tr>
              <a:tr h="21269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String?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A2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홀별 메모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10000" marB="10000" anchor="ctr">
                    <a:lnL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9CBB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화면 설계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14개 화면(사용자 10 + 관리자 4) · 진입: 랜딩·로그인·회원가입 · 대시보드 허브형 구조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965960" y="2148840"/>
            <a:ext cx="4114800" cy="1005840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6080760" y="2148840"/>
            <a:ext cx="4114800" cy="1005840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965960" y="3154680"/>
            <a:ext cx="4114800" cy="1645920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80760" y="3154680"/>
            <a:ext cx="4114800" cy="1645920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6080760" y="3154680"/>
            <a:ext cx="0" cy="2788920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94960" y="2468880"/>
            <a:ext cx="1371600" cy="1371600"/>
          </a:xfrm>
          <a:prstGeom prst="roundRect">
            <a:avLst>
              <a:gd name="adj" fmla="val 6667"/>
            </a:avLst>
          </a:prstGeom>
          <a:solidFill>
            <a:srgbClr val="1F4D2C"/>
          </a:solidFill>
          <a:ln/>
        </p:spPr>
      </p:sp>
      <p:sp>
        <p:nvSpPr>
          <p:cNvPr id="10" name="Text 8"/>
          <p:cNvSpPr/>
          <p:nvPr/>
        </p:nvSpPr>
        <p:spPr>
          <a:xfrm>
            <a:off x="5394960" y="29260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14400" y="16916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2F6F2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1801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148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목록 · 상세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44000" y="16916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2F6F2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0" y="18013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등록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326880" y="21488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2-Step · 스코어카드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4400" y="434340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2F6F2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44531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마이페이지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44000" y="434340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F2F6F2"/>
          </a:solidFill>
          <a:ln/>
        </p:spPr>
      </p:sp>
      <p:sp>
        <p:nvSpPr>
          <p:cNvPr id="20" name="Text 18"/>
          <p:cNvSpPr/>
          <p:nvPr/>
        </p:nvSpPr>
        <p:spPr>
          <a:xfrm>
            <a:off x="9326880" y="44531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조회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4800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목록 · 상세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0" y="5532120"/>
            <a:ext cx="2103120" cy="822960"/>
          </a:xfrm>
          <a:prstGeom prst="roundRect">
            <a:avLst>
              <a:gd name="adj" fmla="val 8889"/>
            </a:avLst>
          </a:prstGeom>
          <a:solidFill>
            <a:srgbClr val="E9F0E9"/>
          </a:solidFill>
          <a:ln w="15875">
            <a:solidFill>
              <a:srgbClr val="D99A3C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212080" y="564184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12080" y="59893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9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Par/회원 관리 (ADMIN)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개발 환경 구성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 개발 스택 구성 완료 (db/, app/, .vscode/)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2F6F2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F4D2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947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(Docker Compose)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db/docker-compose.yml · postgres:16-alpine · 로컬 DB 기동/연결 검증 완료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2F6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19202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F4D2C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▲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78040" y="1947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앱 스캐폴딩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46520" y="26060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 폴더 · Prisma 7 + adapter-pg · 마이그레이션 3건 실 DB 검증 완료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2F6F2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40690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F4D2C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40965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연동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워크스페이스 설정(.vscode/) · 추천 확장(Prisma/ESLint/Prettier/Tailwind/Docker) · 태스크 단축 실행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384048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2F6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40690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F4D2C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178040" y="40965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저장소 연동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46520" y="47548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github.com/haekongpapa/scorecaddie · 소스 버전관리 시작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구현 진행 현황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F2F6F2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194560"/>
            <a:ext cx="475488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요구사항 수집 &amp; 초기 기획 문서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스키마 설계 (User/GolfCourse/GolfCourseHole/Round/HoleScore, docs/pages.md)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화면 13개 설계 (사용자 10 + 관리자 3, docs/pages.md) + HTML 목업 전체 작성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로컬 PostgreSQL(Docker Compose) 구성 및 연결 검증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앱 스캐폴딩 + Prisma 마이그레이션 3건 실 DB 검증(GolfCourseHole/Par, User.role 포함)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워크스페이스 연동 · GitHub 저장소 연동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등록 화면 UI 확정 (1행 1홀, 타수 옆 메모 배치)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adapter-pg 런타임 버그 수정 및 재검증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등록 화면 2-Step 재설계 (스코어카드 + 4분할 입력 패널, 참조 앱 스타일 반영)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스키마 확장 (HoleScore 상세 필드 8개, Round holesPlayed·루프 참조 / GolfCourseLoop 엔티티 도입)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화면 골프장 루프 UI 재설계 (루프 탭 추가/이름변경/삭제, 루프별 9홀 Par 입력)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217920" y="1554480"/>
            <a:ext cx="5303520" cy="4480560"/>
          </a:xfrm>
          <a:prstGeom prst="roundRect">
            <a:avLst>
              <a:gd name="adj" fmla="val 1633"/>
            </a:avLst>
          </a:prstGeom>
          <a:solidFill>
            <a:srgbClr val="E9F0E9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0" y="1783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예정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92240" y="2194560"/>
            <a:ext cx="4754880" cy="3703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목록/상세 화면(UI) 구현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좌표 결측 지오코딩 배치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등록/조회 기능 구현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화면 구현 (Par 입력 · CSV 업로드)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날씨 연동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</a:t>
            </a:r>
            <a:endParaRPr lang="en-US" sz="12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주요 이슈 및 해결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538728" cy="4709160"/>
          </a:xfrm>
          <a:prstGeom prst="roundRect">
            <a:avLst>
              <a:gd name="adj" fmla="val 2067"/>
            </a:avLst>
          </a:prstGeom>
          <a:solidFill>
            <a:srgbClr val="E9F0E9"/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1737360"/>
            <a:ext cx="594360" cy="594360"/>
          </a:xfrm>
          <a:prstGeom prst="roundRect">
            <a:avLst>
              <a:gd name="adj" fmla="val 20000"/>
            </a:avLst>
          </a:prstGeom>
          <a:solidFill>
            <a:srgbClr val="D99A3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37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14400" y="2514600"/>
            <a:ext cx="2990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7 런타임 초기화 버그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3246120"/>
            <a:ext cx="29900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PrismaClient가 schema.prisma의 datasource.url이나 DATABASE_URL을 런타임에 자동으로 읽지 않아, 배포 시 즉시 크래시할 잠재적 심각 버그였음.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5029200"/>
            <a:ext cx="29900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해결: @prisma/adapter-pg로 커넥션을 명시적으로 전달하도록 수정, 재검증 완료.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34840" y="1463040"/>
            <a:ext cx="3538728" cy="4709160"/>
          </a:xfrm>
          <a:prstGeom prst="roundRect">
            <a:avLst>
              <a:gd name="adj" fmla="val 2067"/>
            </a:avLst>
          </a:prstGeom>
          <a:solidFill>
            <a:srgbClr val="E9F0E9"/>
          </a:solidFill>
          <a:ln/>
        </p:spPr>
      </p:sp>
      <p:sp>
        <p:nvSpPr>
          <p:cNvPr id="10" name="Shape 8"/>
          <p:cNvSpPr/>
          <p:nvPr/>
        </p:nvSpPr>
        <p:spPr>
          <a:xfrm>
            <a:off x="4709160" y="1737360"/>
            <a:ext cx="594360" cy="594360"/>
          </a:xfrm>
          <a:prstGeom prst="roundRect">
            <a:avLst>
              <a:gd name="adj" fmla="val 20000"/>
            </a:avLst>
          </a:prstGeom>
          <a:solidFill>
            <a:srgbClr val="D99A3C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1737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09160" y="2514600"/>
            <a:ext cx="2990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좌표계 불일치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09160" y="3246120"/>
            <a:ext cx="29900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공공데이터 좌표가 WGS84가 아닌 TM 중부원점(EPSG:5174)이며, 다수 레코드가 좌표값 결측.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09160" y="5029200"/>
            <a:ext cx="29900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해결: proj4 기반 변환 유틸 작성 및 실측 검증. 결측 건은 needsGeocoding 플래그로 표시 후 추후 배치 처리.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1463040"/>
            <a:ext cx="3538728" cy="4709160"/>
          </a:xfrm>
          <a:prstGeom prst="roundRect">
            <a:avLst>
              <a:gd name="adj" fmla="val 2067"/>
            </a:avLst>
          </a:prstGeom>
          <a:solidFill>
            <a:srgbClr val="E9F0E9"/>
          </a:solidFill>
          <a:ln/>
        </p:spPr>
      </p:sp>
      <p:sp>
        <p:nvSpPr>
          <p:cNvPr id="16" name="Shape 14"/>
          <p:cNvSpPr/>
          <p:nvPr/>
        </p:nvSpPr>
        <p:spPr>
          <a:xfrm>
            <a:off x="8503920" y="1737360"/>
            <a:ext cx="594360" cy="594360"/>
          </a:xfrm>
          <a:prstGeom prst="roundRect">
            <a:avLst>
              <a:gd name="adj" fmla="val 20000"/>
            </a:avLst>
          </a:prstGeom>
          <a:solidFill>
            <a:srgbClr val="D99A3C"/>
          </a:solidFill>
          <a:ln/>
        </p:spPr>
      </p:sp>
      <p:sp>
        <p:nvSpPr>
          <p:cNvPr id="17" name="Text 15"/>
          <p:cNvSpPr/>
          <p:nvPr/>
        </p:nvSpPr>
        <p:spPr>
          <a:xfrm>
            <a:off x="8503920" y="173736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03920" y="2514600"/>
            <a:ext cx="29900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adapter-pg Pool 패턴 버그 (신규)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03920" y="3246120"/>
            <a:ext cx="29900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PrismaPg(pool)로 pg Pool 인스턴스를 직접 넘기면 실제 쿼리 실행 시 ERR_INVALID_ARG_TYPE로 크래시 (구성 자체는 에러 없이 성공해 발견이 늦어짐).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03920" y="5029200"/>
            <a:ext cx="29900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해결: new PrismaPg({ connectionString })방식으로 확정, 전체 스모크 테스트 재검증 완료.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rgbClr val="1F4D2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 flipV="1">
            <a:off x="1097280" y="2240280"/>
            <a:ext cx="0" cy="292608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91640" y="16916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목록/상세 화면 구현 → 좌표 결측 지오코딩 배치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2532888"/>
            <a:ext cx="548640" cy="548640"/>
          </a:xfrm>
          <a:prstGeom prst="ellipse">
            <a:avLst/>
          </a:prstGeom>
          <a:solidFill>
            <a:srgbClr val="1F4D2C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32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 flipV="1">
            <a:off x="1097280" y="3081528"/>
            <a:ext cx="0" cy="292608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91640" y="2532888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스코어 등록/조회 화면 구현 (확정된 UI: 1행 1홀 + 메모 반영)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22960" y="3374136"/>
            <a:ext cx="548640" cy="548640"/>
          </a:xfrm>
          <a:prstGeom prst="ellipse">
            <a:avLst/>
          </a:prstGeom>
          <a:solidFill>
            <a:srgbClr val="1F4D2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3741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 flipV="1">
            <a:off x="1097280" y="3922776"/>
            <a:ext cx="0" cy="292608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91640" y="3374136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화면 구현 (Par 입력 · CSV 업로드)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22960" y="4215384"/>
            <a:ext cx="548640" cy="548640"/>
          </a:xfrm>
          <a:prstGeom prst="ellipse">
            <a:avLst/>
          </a:prstGeom>
          <a:solidFill>
            <a:srgbClr val="1F4D2C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4215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 flipV="1">
            <a:off x="1097280" y="4764024"/>
            <a:ext cx="0" cy="292608"/>
          </a:xfrm>
          <a:prstGeom prst="line">
            <a:avLst/>
          </a:prstGeom>
          <a:noFill/>
          <a:ln w="19050">
            <a:solidFill>
              <a:srgbClr val="B9CBB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91640" y="421538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날씨 연동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2960" y="5056632"/>
            <a:ext cx="548640" cy="548640"/>
          </a:xfrm>
          <a:prstGeom prst="ellipse">
            <a:avLst/>
          </a:prstGeom>
          <a:solidFill>
            <a:srgbClr val="D99A3C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50566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91640" y="505663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 테스트 → 배포 (Vercel + Supabase/Neon)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논의가 필요한 사항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F2F6F2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계정 발급 절차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68680" y="23774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현재는 DB에서 직접 role을 ADMIN으로 변경해야 함. 별도 초대/승격 플로우가 필요한지 논의 필요.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17920" y="169164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F2F6F2"/>
          </a:solidFill>
          <a:ln/>
        </p:spPr>
      </p:sp>
      <p:sp>
        <p:nvSpPr>
          <p:cNvPr id="7" name="Text 5"/>
          <p:cNvSpPr/>
          <p:nvPr/>
        </p:nvSpPr>
        <p:spPr>
          <a:xfrm>
            <a:off x="6446520" y="18745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업로드 골프장명 매칭 정책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6446520" y="237744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동일 이름 골프장이 여러 개일 경우 현재는 매칭 실패 처리. 식별자(externalOrgCd 등) 기반 매칭으로 보완할지 검토.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79476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F2F6F2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3977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배포/호스팅 예산 및 도메인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68680" y="448056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예산 범위 및 도메인 확보 여부 확정 필요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3794760"/>
            <a:ext cx="5120640" cy="1874520"/>
          </a:xfrm>
          <a:prstGeom prst="roundRect">
            <a:avLst>
              <a:gd name="adj" fmla="val 3902"/>
            </a:avLst>
          </a:prstGeom>
          <a:solidFill>
            <a:srgbClr val="F2F6F2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39776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4D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모바일 대응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46520" y="448056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반응형 웹으로 충분한지, 추후 네이티브 앱 전환을 고려할지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4D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0" y="36118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ADC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 골프 스코어 관리 서비스 · 분석/설계 요약 (v4)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HoleScore 상세 필드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HoleScore 스코어카드 상세 필드 8개 추가 · Round엔 holesPlayed·코스라벨 추가 (2026-07-16)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2F6F2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F4D2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947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teeShotResult (신규)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티샷 결과 — FAIRWAY / MISS / PENALTY / OB (enum TeeShotResult)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2F6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19202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F4D2C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78040" y="1947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penaltyStrokes · obStrokes · bunkerUsed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46520" y="26060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페널티·OB 타수, 그린주변벙커 여부 — PENALTY/OB 선택 시 화면에서 자동 가산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2F6F2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40690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F4D2C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40965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pinDistanceType · pinDistanceMeters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온그린 핀거리 — NEAR(0~20m 값) / FAR(20m 이상) 중 선택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384048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2F6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40690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F4D2C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178040" y="40965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onGreenStrokes · puttStrokes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46520" y="47548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온그린 타수 + 퍼트 타수 합산 → strokes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스코어 등록 화면 재설계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2-Step 구조 + 참조 앱(Even Par) 스타일 반영 (2026-07-16)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2F6F2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F4D2C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947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Step1 — 코스 선택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68680" y="26060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골프장 · 9H/18H · 전반/후반 코스 · 일자 · 라운드 당시 날씨 자동표시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2F6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46520" y="19202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F4D2C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920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178040" y="1947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Step2 — 스코어카드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46520" y="26060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전반/후반 표 상시노출, 홀 탭으로 이동, PAR 버튼으로 즉시 변경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84048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2F6F2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40690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F4D2C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40965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4분할 입력 패널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티샷결과 ② 페널티/OB ③ 온그린 핀거리 ④ 스코어(온그린·퍼트)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3840480"/>
            <a:ext cx="5120640" cy="1828800"/>
          </a:xfrm>
          <a:prstGeom prst="roundRect">
            <a:avLst>
              <a:gd name="adj" fmla="val 4000"/>
            </a:avLst>
          </a:prstGeom>
          <a:solidFill>
            <a:srgbClr val="F2F6F2"/>
          </a:solidFill>
          <a:ln/>
        </p:spPr>
      </p:sp>
      <p:sp>
        <p:nvSpPr>
          <p:cNvPr id="20" name="Shape 18"/>
          <p:cNvSpPr/>
          <p:nvPr/>
        </p:nvSpPr>
        <p:spPr>
          <a:xfrm>
            <a:off x="6446520" y="406908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1F4D2C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178040" y="409651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자동계산 규칙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46520" y="475488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페널티 선택 시 페널티+1·온그린+1 / OB 선택 시 OB+2·온그린+2 자동 반영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2026-07-15T06:55:49Z</dcterms:created>
  <dcterms:modified xsi:type="dcterms:W3CDTF">2026-07-15T06:55:49Z</dcterms:modified>
</cp:coreProperties>
</file>